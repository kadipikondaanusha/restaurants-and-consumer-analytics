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8288000" cy="10287000"/>
  <p:notesSz cx="6858000" cy="9144000"/>
  <p:embeddedFontLst>
    <p:embeddedFont>
      <p:font typeface="Times New Roman Bold" panose="02020803070505020304" pitchFamily="18" charset="0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jpeg"/><Relationship Id="rId4" Type="http://schemas.openxmlformats.org/officeDocument/2006/relationships/image" Target="../media/image3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30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30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56533">
            <a:off x="10639482" y="-881775"/>
            <a:ext cx="10083843" cy="4978897"/>
          </a:xfrm>
          <a:custGeom>
            <a:avLst/>
            <a:gdLst/>
            <a:ahLst/>
            <a:cxnLst/>
            <a:rect l="l" t="t" r="r" b="b"/>
            <a:pathLst>
              <a:path w="10083843" h="4978897">
                <a:moveTo>
                  <a:pt x="0" y="0"/>
                </a:moveTo>
                <a:lnTo>
                  <a:pt x="10083842" y="0"/>
                </a:lnTo>
                <a:lnTo>
                  <a:pt x="10083842" y="4978897"/>
                </a:lnTo>
                <a:lnTo>
                  <a:pt x="0" y="4978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8276696">
            <a:off x="-969163" y="7421271"/>
            <a:ext cx="6873159" cy="4553468"/>
          </a:xfrm>
          <a:custGeom>
            <a:avLst/>
            <a:gdLst/>
            <a:ahLst/>
            <a:cxnLst/>
            <a:rect l="l" t="t" r="r" b="b"/>
            <a:pathLst>
              <a:path w="6873159" h="4553468">
                <a:moveTo>
                  <a:pt x="0" y="0"/>
                </a:moveTo>
                <a:lnTo>
                  <a:pt x="6873159" y="0"/>
                </a:lnTo>
                <a:lnTo>
                  <a:pt x="6873159" y="4553467"/>
                </a:lnTo>
                <a:lnTo>
                  <a:pt x="0" y="45534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18501777" cy="10407250"/>
          </a:xfrm>
          <a:custGeom>
            <a:avLst/>
            <a:gdLst/>
            <a:ahLst/>
            <a:cxnLst/>
            <a:rect l="l" t="t" r="r" b="b"/>
            <a:pathLst>
              <a:path w="18501777" h="10407250">
                <a:moveTo>
                  <a:pt x="0" y="0"/>
                </a:moveTo>
                <a:lnTo>
                  <a:pt x="18501777" y="0"/>
                </a:lnTo>
                <a:lnTo>
                  <a:pt x="18501777" y="10407249"/>
                </a:lnTo>
                <a:lnTo>
                  <a:pt x="0" y="10407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663850" y="6093535"/>
            <a:ext cx="9647393" cy="162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0"/>
              </a:lnSpc>
              <a:spcBef>
                <a:spcPct val="0"/>
              </a:spcBef>
            </a:pPr>
            <a:r>
              <a:rPr lang="en-US" sz="458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RESTAURANT AND CONSUMER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18088" y="4146480"/>
            <a:ext cx="13538928" cy="240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20"/>
              </a:lnSpc>
              <a:spcBef>
                <a:spcPct val="0"/>
              </a:spcBef>
            </a:pPr>
            <a:r>
              <a:rPr lang="en-US" sz="72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RESTAURANT AND CONSUMER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74804" y="573117"/>
            <a:ext cx="6138392" cy="132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30"/>
              </a:lnSpc>
              <a:spcBef>
                <a:spcPct val="0"/>
              </a:spcBef>
            </a:pPr>
            <a:r>
              <a:rPr lang="en-US" sz="794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1972" y="1853321"/>
            <a:ext cx="17264056" cy="9948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693" lvl="1" indent="-327847" algn="just">
              <a:lnSpc>
                <a:spcPts val="3948"/>
              </a:lnSpc>
              <a:buFont typeface="Arial"/>
              <a:buChar char="•"/>
            </a:pPr>
            <a:r>
              <a:rPr lang="en-US" sz="30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Restaurant and Consumer domain focuses on analyzing dining experiences, customer preferences, and restaurant performance.</a:t>
            </a: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5693" lvl="1" indent="-327847" algn="just">
              <a:lnSpc>
                <a:spcPts val="3948"/>
              </a:lnSpc>
              <a:buFont typeface="Arial"/>
              <a:buChar char="•"/>
            </a:pPr>
            <a:r>
              <a:rPr lang="en-US" sz="30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data management helps businesses understand consumer behavior, cuisine popularity, and service quality across locations.</a:t>
            </a: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5693" lvl="1" indent="-327847" algn="just">
              <a:lnSpc>
                <a:spcPts val="3948"/>
              </a:lnSpc>
              <a:buFont typeface="Arial"/>
              <a:buChar char="•"/>
            </a:pPr>
            <a:r>
              <a:rPr lang="en-US" sz="30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simulates a restaurant recommendation and analysis system using interconnected entities such as consumers, restaurants, cuisines, and ratings.</a:t>
            </a: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5693" lvl="1" indent="-327847" algn="just">
              <a:lnSpc>
                <a:spcPts val="3948"/>
              </a:lnSpc>
              <a:buFont typeface="Arial"/>
              <a:buChar char="•"/>
            </a:pPr>
            <a:r>
              <a:rPr lang="en-US" sz="30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provides hands-on experience in building a structured SQL database and exploring relationships between real-world datasets.</a:t>
            </a: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5693" lvl="1" indent="-327847" algn="just">
              <a:lnSpc>
                <a:spcPts val="3948"/>
              </a:lnSpc>
              <a:buFont typeface="Arial"/>
              <a:buChar char="•"/>
            </a:pPr>
            <a:r>
              <a:rPr lang="en-US" sz="30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will use SQL queries to extract, analyze, and interpret data for valuable business insights.</a:t>
            </a: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55693" lvl="1" indent="-327847" algn="just">
              <a:lnSpc>
                <a:spcPts val="3948"/>
              </a:lnSpc>
              <a:buFont typeface="Arial"/>
              <a:buChar char="•"/>
            </a:pPr>
            <a:r>
              <a:rPr lang="en-US" sz="303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goal is to enhance decision-making, improve customer satisfaction, and promote data-driven strategies in the food and hospitality industry.</a:t>
            </a: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48"/>
              </a:lnSpc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3948"/>
              </a:lnSpc>
              <a:spcBef>
                <a:spcPct val="0"/>
              </a:spcBef>
            </a:pPr>
            <a:endParaRPr lang="en-US" sz="303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24507" y="1554775"/>
            <a:ext cx="9557639" cy="1216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97"/>
              </a:lnSpc>
              <a:spcBef>
                <a:spcPct val="0"/>
              </a:spcBef>
            </a:pPr>
            <a:r>
              <a:rPr lang="en-US" sz="7844" b="1" dirty="0">
                <a:solidFill>
                  <a:srgbClr val="1F1D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</a:t>
            </a:r>
            <a:r>
              <a:rPr lang="en-US" sz="7844" b="1" dirty="0" err="1">
                <a:solidFill>
                  <a:srgbClr val="1F1D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Statment</a:t>
            </a:r>
            <a:endParaRPr lang="en-US" sz="7844" b="1" dirty="0">
              <a:solidFill>
                <a:srgbClr val="1F1D1C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31771" y="3303407"/>
            <a:ext cx="17343113" cy="4748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5"/>
              </a:lnSpc>
              <a:spcBef>
                <a:spcPct val="0"/>
              </a:spcBef>
            </a:pPr>
            <a:r>
              <a:rPr lang="en-US" sz="409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Restaurant and Consumer Data Project focuses on managing and analyzing data related to consumers, restaurants, cuisines, ratings, and online orders. The project aims to organize unstructured data into a structured SQL database to study customer preferences, order patterns, and restaurant performance. Using SQL queries, it helps derive valuable insights that support data-driven decisions, enhance customer satisfaction, and improve operational efficiency in the food and hospitality industry.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585650" y="3162449"/>
            <a:ext cx="8359910" cy="5633142"/>
          </a:xfrm>
          <a:custGeom>
            <a:avLst/>
            <a:gdLst/>
            <a:ahLst/>
            <a:cxnLst/>
            <a:rect l="l" t="t" r="r" b="b"/>
            <a:pathLst>
              <a:path w="8359910" h="5633142">
                <a:moveTo>
                  <a:pt x="0" y="0"/>
                </a:moveTo>
                <a:lnTo>
                  <a:pt x="8359909" y="0"/>
                </a:lnTo>
                <a:lnTo>
                  <a:pt x="8359909" y="5633142"/>
                </a:lnTo>
                <a:lnTo>
                  <a:pt x="0" y="5633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36651" y="3252141"/>
            <a:ext cx="7669905" cy="5543450"/>
          </a:xfrm>
          <a:custGeom>
            <a:avLst/>
            <a:gdLst/>
            <a:ahLst/>
            <a:cxnLst/>
            <a:rect l="l" t="t" r="r" b="b"/>
            <a:pathLst>
              <a:path w="7669905" h="5543450">
                <a:moveTo>
                  <a:pt x="0" y="0"/>
                </a:moveTo>
                <a:lnTo>
                  <a:pt x="7669906" y="0"/>
                </a:lnTo>
                <a:lnTo>
                  <a:pt x="7669906" y="5543450"/>
                </a:lnTo>
                <a:lnTo>
                  <a:pt x="0" y="5543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960325" y="57368"/>
            <a:ext cx="4769665" cy="1622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604"/>
              </a:lnSpc>
              <a:spcBef>
                <a:spcPct val="0"/>
              </a:spcBef>
            </a:pPr>
            <a:r>
              <a:rPr lang="en-US" sz="1046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01079" y="1915548"/>
            <a:ext cx="3631681" cy="99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1"/>
              </a:lnSpc>
              <a:spcBef>
                <a:spcPct val="0"/>
              </a:spcBef>
            </a:pPr>
            <a:r>
              <a:rPr lang="en-US" sz="59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Consumers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29990" y="1709595"/>
            <a:ext cx="4071229" cy="1025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66"/>
              </a:lnSpc>
              <a:spcBef>
                <a:spcPct val="0"/>
              </a:spcBef>
            </a:pPr>
            <a:r>
              <a:rPr lang="en-US" sz="620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Restaurants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104076" y="6960505"/>
            <a:ext cx="7356764" cy="3121605"/>
          </a:xfrm>
          <a:custGeom>
            <a:avLst/>
            <a:gdLst/>
            <a:ahLst/>
            <a:cxnLst/>
            <a:rect l="l" t="t" r="r" b="b"/>
            <a:pathLst>
              <a:path w="7356764" h="3121605">
                <a:moveTo>
                  <a:pt x="0" y="0"/>
                </a:moveTo>
                <a:lnTo>
                  <a:pt x="7356764" y="0"/>
                </a:lnTo>
                <a:lnTo>
                  <a:pt x="7356764" y="3121605"/>
                </a:lnTo>
                <a:lnTo>
                  <a:pt x="0" y="3121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782458" y="2925317"/>
            <a:ext cx="8724183" cy="2522655"/>
          </a:xfrm>
          <a:custGeom>
            <a:avLst/>
            <a:gdLst/>
            <a:ahLst/>
            <a:cxnLst/>
            <a:rect l="l" t="t" r="r" b="b"/>
            <a:pathLst>
              <a:path w="8724183" h="2522655">
                <a:moveTo>
                  <a:pt x="0" y="0"/>
                </a:moveTo>
                <a:lnTo>
                  <a:pt x="8724183" y="0"/>
                </a:lnTo>
                <a:lnTo>
                  <a:pt x="8724183" y="2522655"/>
                </a:lnTo>
                <a:lnTo>
                  <a:pt x="0" y="25226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81084" y="3293473"/>
            <a:ext cx="8038543" cy="2150553"/>
          </a:xfrm>
          <a:custGeom>
            <a:avLst/>
            <a:gdLst/>
            <a:ahLst/>
            <a:cxnLst/>
            <a:rect l="l" t="t" r="r" b="b"/>
            <a:pathLst>
              <a:path w="8038543" h="2150553">
                <a:moveTo>
                  <a:pt x="0" y="0"/>
                </a:moveTo>
                <a:lnTo>
                  <a:pt x="8038543" y="0"/>
                </a:lnTo>
                <a:lnTo>
                  <a:pt x="8038543" y="2150553"/>
                </a:lnTo>
                <a:lnTo>
                  <a:pt x="0" y="2150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194" r="-1019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60325" y="57368"/>
            <a:ext cx="5225161" cy="1622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604"/>
              </a:lnSpc>
              <a:spcBef>
                <a:spcPct val="0"/>
              </a:spcBef>
            </a:pPr>
            <a:r>
              <a:rPr lang="en-US" sz="10464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Tables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36346" y="5634526"/>
            <a:ext cx="2615307" cy="1044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65"/>
              </a:lnSpc>
              <a:spcBef>
                <a:spcPct val="0"/>
              </a:spcBef>
            </a:pPr>
            <a:r>
              <a:rPr lang="en-US" sz="6281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Ratings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1688212"/>
            <a:ext cx="7280550" cy="996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4"/>
              </a:lnSpc>
              <a:spcBef>
                <a:spcPct val="0"/>
              </a:spcBef>
            </a:pPr>
            <a:r>
              <a:rPr lang="en-US" sz="59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Consumer Preferences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5189" y="1700070"/>
            <a:ext cx="5990332" cy="99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1"/>
              </a:lnSpc>
              <a:spcBef>
                <a:spcPct val="0"/>
              </a:spcBef>
            </a:pPr>
            <a:r>
              <a:rPr lang="en-US" sz="59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Restaurant cuisine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18591" y="1714500"/>
            <a:ext cx="13313220" cy="8115645"/>
          </a:xfrm>
          <a:custGeom>
            <a:avLst/>
            <a:gdLst/>
            <a:ahLst/>
            <a:cxnLst/>
            <a:rect l="l" t="t" r="r" b="b"/>
            <a:pathLst>
              <a:path w="12496611" h="7779140">
                <a:moveTo>
                  <a:pt x="0" y="0"/>
                </a:moveTo>
                <a:lnTo>
                  <a:pt x="12496612" y="0"/>
                </a:lnTo>
                <a:lnTo>
                  <a:pt x="12496612" y="7779141"/>
                </a:lnTo>
                <a:lnTo>
                  <a:pt x="0" y="7779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038979" y="219712"/>
            <a:ext cx="6762621" cy="11447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78"/>
              </a:lnSpc>
              <a:spcBef>
                <a:spcPct val="0"/>
              </a:spcBef>
            </a:pPr>
            <a:r>
              <a:rPr lang="en-US" sz="736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ER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4621106"/>
            <a:ext cx="10409411" cy="2249390"/>
          </a:xfrm>
          <a:custGeom>
            <a:avLst/>
            <a:gdLst/>
            <a:ahLst/>
            <a:cxnLst/>
            <a:rect l="l" t="t" r="r" b="b"/>
            <a:pathLst>
              <a:path w="10409411" h="2249390">
                <a:moveTo>
                  <a:pt x="0" y="0"/>
                </a:moveTo>
                <a:lnTo>
                  <a:pt x="10409411" y="0"/>
                </a:lnTo>
                <a:lnTo>
                  <a:pt x="10409411" y="2249390"/>
                </a:lnTo>
                <a:lnTo>
                  <a:pt x="0" y="22493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993626" y="2993616"/>
            <a:ext cx="4792919" cy="6796927"/>
          </a:xfrm>
          <a:custGeom>
            <a:avLst/>
            <a:gdLst/>
            <a:ahLst/>
            <a:cxnLst/>
            <a:rect l="l" t="t" r="r" b="b"/>
            <a:pathLst>
              <a:path w="4792919" h="6796927">
                <a:moveTo>
                  <a:pt x="0" y="0"/>
                </a:moveTo>
                <a:lnTo>
                  <a:pt x="4792919" y="0"/>
                </a:lnTo>
                <a:lnTo>
                  <a:pt x="4792919" y="6796926"/>
                </a:lnTo>
                <a:lnTo>
                  <a:pt x="0" y="6796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199763"/>
            <a:ext cx="18288000" cy="142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1"/>
              </a:lnSpc>
              <a:spcBef>
                <a:spcPct val="0"/>
              </a:spcBef>
            </a:pPr>
            <a:r>
              <a:rPr lang="en-US" sz="43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1.Find the Consumer_ID, Age, and Occupation of all consumers who are 'Students' AND are 'Smokers'.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189" y="3643481"/>
            <a:ext cx="8873074" cy="1676005"/>
          </a:xfrm>
          <a:custGeom>
            <a:avLst/>
            <a:gdLst/>
            <a:ahLst/>
            <a:cxnLst/>
            <a:rect l="l" t="t" r="r" b="b"/>
            <a:pathLst>
              <a:path w="8873074" h="1676005">
                <a:moveTo>
                  <a:pt x="0" y="0"/>
                </a:moveTo>
                <a:lnTo>
                  <a:pt x="8873075" y="0"/>
                </a:lnTo>
                <a:lnTo>
                  <a:pt x="8873075" y="1676005"/>
                </a:lnTo>
                <a:lnTo>
                  <a:pt x="0" y="16760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54" b="-65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84259" y="2420798"/>
            <a:ext cx="5150166" cy="7568231"/>
          </a:xfrm>
          <a:custGeom>
            <a:avLst/>
            <a:gdLst/>
            <a:ahLst/>
            <a:cxnLst/>
            <a:rect l="l" t="t" r="r" b="b"/>
            <a:pathLst>
              <a:path w="5150166" h="7568231">
                <a:moveTo>
                  <a:pt x="0" y="0"/>
                </a:moveTo>
                <a:lnTo>
                  <a:pt x="5150166" y="0"/>
                </a:lnTo>
                <a:lnTo>
                  <a:pt x="5150166" y="7568231"/>
                </a:lnTo>
                <a:lnTo>
                  <a:pt x="0" y="75682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6301" y="1210533"/>
            <a:ext cx="17475398" cy="142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1"/>
              </a:lnSpc>
              <a:spcBef>
                <a:spcPct val="0"/>
              </a:spcBef>
            </a:pPr>
            <a:r>
              <a:rPr lang="en-US" sz="43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2.Find the names and cities of all restaurants that are part of a 'Franchise'.</a:t>
            </a:r>
          </a:p>
          <a:p>
            <a:pPr algn="ctr">
              <a:lnSpc>
                <a:spcPts val="5611"/>
              </a:lnSpc>
              <a:spcBef>
                <a:spcPct val="0"/>
              </a:spcBef>
            </a:pPr>
            <a:endParaRPr lang="en-US" sz="4316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2229" y="4397532"/>
            <a:ext cx="9171176" cy="1504156"/>
          </a:xfrm>
          <a:custGeom>
            <a:avLst/>
            <a:gdLst/>
            <a:ahLst/>
            <a:cxnLst/>
            <a:rect l="l" t="t" r="r" b="b"/>
            <a:pathLst>
              <a:path w="9171176" h="1504156">
                <a:moveTo>
                  <a:pt x="0" y="0"/>
                </a:moveTo>
                <a:lnTo>
                  <a:pt x="9171176" y="0"/>
                </a:lnTo>
                <a:lnTo>
                  <a:pt x="9171176" y="1504156"/>
                </a:lnTo>
                <a:lnTo>
                  <a:pt x="0" y="15041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035906" y="2333387"/>
            <a:ext cx="5785972" cy="7291265"/>
          </a:xfrm>
          <a:custGeom>
            <a:avLst/>
            <a:gdLst/>
            <a:ahLst/>
            <a:cxnLst/>
            <a:rect l="l" t="t" r="r" b="b"/>
            <a:pathLst>
              <a:path w="5785972" h="7291265">
                <a:moveTo>
                  <a:pt x="0" y="0"/>
                </a:moveTo>
                <a:lnTo>
                  <a:pt x="5785971" y="0"/>
                </a:lnTo>
                <a:lnTo>
                  <a:pt x="5785971" y="7291265"/>
                </a:lnTo>
                <a:lnTo>
                  <a:pt x="0" y="72912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2229" y="962025"/>
            <a:ext cx="17663542" cy="1220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44"/>
              </a:lnSpc>
              <a:spcBef>
                <a:spcPct val="0"/>
              </a:spcBef>
            </a:pPr>
            <a:r>
              <a:rPr lang="en-US" sz="36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3.List the names and cities of all restaurants that have an Overall_Rating of 2 (Highly Satisfactory) from at least one consumer.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2880" y="4568708"/>
            <a:ext cx="10398487" cy="2038919"/>
          </a:xfrm>
          <a:custGeom>
            <a:avLst/>
            <a:gdLst/>
            <a:ahLst/>
            <a:cxnLst/>
            <a:rect l="l" t="t" r="r" b="b"/>
            <a:pathLst>
              <a:path w="10398487" h="2038919">
                <a:moveTo>
                  <a:pt x="0" y="0"/>
                </a:moveTo>
                <a:lnTo>
                  <a:pt x="10398487" y="0"/>
                </a:lnTo>
                <a:lnTo>
                  <a:pt x="10398487" y="2038919"/>
                </a:lnTo>
                <a:lnTo>
                  <a:pt x="0" y="2038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12895" y="3421822"/>
            <a:ext cx="6603729" cy="4332691"/>
          </a:xfrm>
          <a:custGeom>
            <a:avLst/>
            <a:gdLst/>
            <a:ahLst/>
            <a:cxnLst/>
            <a:rect l="l" t="t" r="r" b="b"/>
            <a:pathLst>
              <a:path w="6603729" h="4332691">
                <a:moveTo>
                  <a:pt x="0" y="0"/>
                </a:moveTo>
                <a:lnTo>
                  <a:pt x="6603729" y="0"/>
                </a:lnTo>
                <a:lnTo>
                  <a:pt x="6603729" y="4332691"/>
                </a:lnTo>
                <a:lnTo>
                  <a:pt x="0" y="4332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234480"/>
            <a:ext cx="17597809" cy="1394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1"/>
              </a:lnSpc>
              <a:spcBef>
                <a:spcPct val="0"/>
              </a:spcBef>
            </a:pPr>
            <a:r>
              <a:rPr lang="en-US" sz="421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List restaurants (Name, City) that have received a Food_Rating lower than the average Food_Rating across all rated restaurants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48445" y="2996041"/>
            <a:ext cx="5691486" cy="5149440"/>
          </a:xfrm>
          <a:custGeom>
            <a:avLst/>
            <a:gdLst/>
            <a:ahLst/>
            <a:cxnLst/>
            <a:rect l="l" t="t" r="r" b="b"/>
            <a:pathLst>
              <a:path w="5691486" h="5149440">
                <a:moveTo>
                  <a:pt x="0" y="0"/>
                </a:moveTo>
                <a:lnTo>
                  <a:pt x="5691486" y="0"/>
                </a:lnTo>
                <a:lnTo>
                  <a:pt x="5691486" y="5149440"/>
                </a:lnTo>
                <a:lnTo>
                  <a:pt x="0" y="51494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29368" y="4382832"/>
            <a:ext cx="11658551" cy="2375858"/>
          </a:xfrm>
          <a:custGeom>
            <a:avLst/>
            <a:gdLst/>
            <a:ahLst/>
            <a:cxnLst/>
            <a:rect l="l" t="t" r="r" b="b"/>
            <a:pathLst>
              <a:path w="11658551" h="2375858">
                <a:moveTo>
                  <a:pt x="0" y="0"/>
                </a:moveTo>
                <a:lnTo>
                  <a:pt x="11658551" y="0"/>
                </a:lnTo>
                <a:lnTo>
                  <a:pt x="11658551" y="2375858"/>
                </a:lnTo>
                <a:lnTo>
                  <a:pt x="0" y="2375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515" b="-851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29368" y="962025"/>
            <a:ext cx="16643983" cy="1299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7"/>
              </a:lnSpc>
              <a:spcBef>
                <a:spcPct val="0"/>
              </a:spcBef>
            </a:pPr>
            <a:r>
              <a:rPr lang="en-US" sz="39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5.List restaurants (Name) that have received ratings from consumers older than 30.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2930" y="4612834"/>
            <a:ext cx="10231474" cy="1793447"/>
          </a:xfrm>
          <a:custGeom>
            <a:avLst/>
            <a:gdLst/>
            <a:ahLst/>
            <a:cxnLst/>
            <a:rect l="l" t="t" r="r" b="b"/>
            <a:pathLst>
              <a:path w="10231474" h="1793447">
                <a:moveTo>
                  <a:pt x="0" y="0"/>
                </a:moveTo>
                <a:lnTo>
                  <a:pt x="10231474" y="0"/>
                </a:lnTo>
                <a:lnTo>
                  <a:pt x="10231474" y="1793447"/>
                </a:lnTo>
                <a:lnTo>
                  <a:pt x="0" y="17934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682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86423" y="3895821"/>
            <a:ext cx="6472877" cy="3227473"/>
          </a:xfrm>
          <a:custGeom>
            <a:avLst/>
            <a:gdLst/>
            <a:ahLst/>
            <a:cxnLst/>
            <a:rect l="l" t="t" r="r" b="b"/>
            <a:pathLst>
              <a:path w="6472877" h="3227473">
                <a:moveTo>
                  <a:pt x="0" y="0"/>
                </a:moveTo>
                <a:lnTo>
                  <a:pt x="6472877" y="0"/>
                </a:lnTo>
                <a:lnTo>
                  <a:pt x="6472877" y="3227473"/>
                </a:lnTo>
                <a:lnTo>
                  <a:pt x="0" y="3227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2930" y="971550"/>
            <a:ext cx="17433478" cy="2448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1"/>
              </a:lnSpc>
              <a:spcBef>
                <a:spcPct val="0"/>
              </a:spcBef>
            </a:pPr>
            <a:r>
              <a:rPr lang="en-US" sz="371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6.We want to categorize consumers by an '</a:t>
            </a:r>
            <a:r>
              <a:rPr lang="en-US" sz="3716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Engagement_Score</a:t>
            </a:r>
            <a:r>
              <a:rPr lang="en-US" sz="371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' which is their Age divided by 10 (integer division). List the </a:t>
            </a:r>
            <a:r>
              <a:rPr lang="en-US" sz="3716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Consumer_ID</a:t>
            </a:r>
            <a:r>
              <a:rPr lang="en-US" sz="371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Age, and this calculated </a:t>
            </a:r>
            <a:r>
              <a:rPr lang="en-US" sz="3716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Engagement_Score</a:t>
            </a:r>
            <a:r>
              <a:rPr lang="en-US" sz="371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but only for consumers whose </a:t>
            </a:r>
            <a:r>
              <a:rPr lang="en-US" sz="3716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Engagement_Score</a:t>
            </a:r>
            <a:r>
              <a:rPr lang="en-US" sz="371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would be exactly 2 and who use 'Public'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60194" y="5073594"/>
            <a:ext cx="11774598" cy="1999460"/>
          </a:xfrm>
          <a:custGeom>
            <a:avLst/>
            <a:gdLst/>
            <a:ahLst/>
            <a:cxnLst/>
            <a:rect l="l" t="t" r="r" b="b"/>
            <a:pathLst>
              <a:path w="11774598" h="1999460">
                <a:moveTo>
                  <a:pt x="0" y="0"/>
                </a:moveTo>
                <a:lnTo>
                  <a:pt x="11774598" y="0"/>
                </a:lnTo>
                <a:lnTo>
                  <a:pt x="11774598" y="1999460"/>
                </a:lnTo>
                <a:lnTo>
                  <a:pt x="0" y="19994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697387" y="4076580"/>
            <a:ext cx="3522140" cy="4750374"/>
          </a:xfrm>
          <a:custGeom>
            <a:avLst/>
            <a:gdLst/>
            <a:ahLst/>
            <a:cxnLst/>
            <a:rect l="l" t="t" r="r" b="b"/>
            <a:pathLst>
              <a:path w="3522140" h="4750374">
                <a:moveTo>
                  <a:pt x="0" y="0"/>
                </a:moveTo>
                <a:lnTo>
                  <a:pt x="3522140" y="0"/>
                </a:lnTo>
                <a:lnTo>
                  <a:pt x="3522140" y="4750374"/>
                </a:lnTo>
                <a:lnTo>
                  <a:pt x="0" y="475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506615"/>
            <a:ext cx="18064523" cy="2569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7"/>
              </a:lnSpc>
              <a:spcBef>
                <a:spcPct val="0"/>
              </a:spcBef>
            </a:pPr>
            <a:r>
              <a:rPr lang="en-US" sz="389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7.Find consumers (</a:t>
            </a:r>
            <a:r>
              <a:rPr lang="en-US" sz="389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Consumer_ID</a:t>
            </a:r>
            <a:r>
              <a:rPr lang="en-US" sz="389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, Age) who are 'Married' and whose </a:t>
            </a:r>
            <a:r>
              <a:rPr lang="en-US" sz="389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Food_Rating</a:t>
            </a:r>
            <a:r>
              <a:rPr lang="en-US" sz="389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for any restaurant is equal to their </a:t>
            </a:r>
            <a:r>
              <a:rPr lang="en-US" sz="389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Service_Rating</a:t>
            </a:r>
            <a:r>
              <a:rPr lang="en-US" sz="389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for that same restaurant, but only consider ratings where the </a:t>
            </a:r>
            <a:r>
              <a:rPr lang="en-US" sz="389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Overall_Rating</a:t>
            </a:r>
            <a:r>
              <a:rPr lang="en-US" sz="389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was 2.</a:t>
            </a:r>
          </a:p>
          <a:p>
            <a:pPr algn="ctr">
              <a:lnSpc>
                <a:spcPts val="5057"/>
              </a:lnSpc>
              <a:spcBef>
                <a:spcPct val="0"/>
              </a:spcBef>
            </a:pPr>
            <a:endParaRPr lang="en-US" sz="389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08285" y="3260102"/>
            <a:ext cx="9484633" cy="5588364"/>
          </a:xfrm>
          <a:custGeom>
            <a:avLst/>
            <a:gdLst/>
            <a:ahLst/>
            <a:cxnLst/>
            <a:rect l="l" t="t" r="r" b="b"/>
            <a:pathLst>
              <a:path w="9484633" h="5588364">
                <a:moveTo>
                  <a:pt x="0" y="0"/>
                </a:moveTo>
                <a:lnTo>
                  <a:pt x="9484633" y="0"/>
                </a:lnTo>
                <a:lnTo>
                  <a:pt x="9484633" y="5588364"/>
                </a:lnTo>
                <a:lnTo>
                  <a:pt x="0" y="5588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50065" y="4020742"/>
            <a:ext cx="7807872" cy="2842582"/>
          </a:xfrm>
          <a:custGeom>
            <a:avLst/>
            <a:gdLst/>
            <a:ahLst/>
            <a:cxnLst/>
            <a:rect l="l" t="t" r="r" b="b"/>
            <a:pathLst>
              <a:path w="7807872" h="2842582">
                <a:moveTo>
                  <a:pt x="0" y="0"/>
                </a:moveTo>
                <a:lnTo>
                  <a:pt x="7807871" y="0"/>
                </a:lnTo>
                <a:lnTo>
                  <a:pt x="7807871" y="2842582"/>
                </a:lnTo>
                <a:lnTo>
                  <a:pt x="0" y="2842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333723"/>
            <a:ext cx="18288000" cy="142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1"/>
              </a:lnSpc>
              <a:spcBef>
                <a:spcPct val="0"/>
              </a:spcBef>
            </a:pPr>
            <a:r>
              <a:rPr lang="en-US" sz="4316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8.List the names and cities of restaurants that serve 'Pizzeria' cuisine and are located in a city where at least one 'Student' consumer lives.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36472" y="4623426"/>
            <a:ext cx="10747396" cy="2124063"/>
          </a:xfrm>
          <a:custGeom>
            <a:avLst/>
            <a:gdLst/>
            <a:ahLst/>
            <a:cxnLst/>
            <a:rect l="l" t="t" r="r" b="b"/>
            <a:pathLst>
              <a:path w="10747396" h="2124063">
                <a:moveTo>
                  <a:pt x="0" y="0"/>
                </a:moveTo>
                <a:lnTo>
                  <a:pt x="10747396" y="0"/>
                </a:lnTo>
                <a:lnTo>
                  <a:pt x="10747396" y="2124063"/>
                </a:lnTo>
                <a:lnTo>
                  <a:pt x="0" y="21240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56973" y="3402866"/>
            <a:ext cx="5499654" cy="5152308"/>
          </a:xfrm>
          <a:custGeom>
            <a:avLst/>
            <a:gdLst/>
            <a:ahLst/>
            <a:cxnLst/>
            <a:rect l="l" t="t" r="r" b="b"/>
            <a:pathLst>
              <a:path w="5499654" h="5152308">
                <a:moveTo>
                  <a:pt x="0" y="0"/>
                </a:moveTo>
                <a:lnTo>
                  <a:pt x="5499654" y="0"/>
                </a:lnTo>
                <a:lnTo>
                  <a:pt x="5499654" y="5152308"/>
                </a:lnTo>
                <a:lnTo>
                  <a:pt x="0" y="51523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88990" y="1162636"/>
            <a:ext cx="16710020" cy="259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6"/>
              </a:lnSpc>
              <a:spcBef>
                <a:spcPct val="0"/>
              </a:spcBef>
            </a:pPr>
            <a:r>
              <a:rPr lang="en-US" sz="391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9.List Consumer_IDs and the count of restaurants they've rated, but only for consumers who are 'Students'. Show only students who have rated more than 2 restaurants.</a:t>
            </a:r>
          </a:p>
          <a:p>
            <a:pPr algn="ctr">
              <a:lnSpc>
                <a:spcPts val="5086"/>
              </a:lnSpc>
              <a:spcBef>
                <a:spcPct val="0"/>
              </a:spcBef>
            </a:pPr>
            <a:endParaRPr lang="en-US" sz="3913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1916" y="3117382"/>
            <a:ext cx="10026490" cy="5723276"/>
          </a:xfrm>
          <a:custGeom>
            <a:avLst/>
            <a:gdLst/>
            <a:ahLst/>
            <a:cxnLst/>
            <a:rect l="l" t="t" r="r" b="b"/>
            <a:pathLst>
              <a:path w="10026490" h="5723276">
                <a:moveTo>
                  <a:pt x="0" y="0"/>
                </a:moveTo>
                <a:lnTo>
                  <a:pt x="10026490" y="0"/>
                </a:lnTo>
                <a:lnTo>
                  <a:pt x="10026490" y="5723275"/>
                </a:lnTo>
                <a:lnTo>
                  <a:pt x="0" y="5723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315581" y="3117382"/>
            <a:ext cx="4990846" cy="5278454"/>
          </a:xfrm>
          <a:custGeom>
            <a:avLst/>
            <a:gdLst/>
            <a:ahLst/>
            <a:cxnLst/>
            <a:rect l="l" t="t" r="r" b="b"/>
            <a:pathLst>
              <a:path w="4990846" h="5278454">
                <a:moveTo>
                  <a:pt x="0" y="0"/>
                </a:moveTo>
                <a:lnTo>
                  <a:pt x="4990846" y="0"/>
                </a:lnTo>
                <a:lnTo>
                  <a:pt x="4990846" y="5278454"/>
                </a:lnTo>
                <a:lnTo>
                  <a:pt x="0" y="5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789364"/>
            <a:ext cx="17603102" cy="305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70"/>
              </a:lnSpc>
              <a:spcBef>
                <a:spcPct val="0"/>
              </a:spcBef>
            </a:pPr>
            <a:r>
              <a:rPr lang="en-US" sz="4336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10.Find consumers (Consumer_ID, Age, Occupation) who have rated at least one restaurant but have NOT rated any restaurant that serves 'Italian' cuisine.</a:t>
            </a:r>
          </a:p>
          <a:p>
            <a:pPr algn="ctr">
              <a:lnSpc>
                <a:spcPts val="6070"/>
              </a:lnSpc>
              <a:spcBef>
                <a:spcPct val="0"/>
              </a:spcBef>
            </a:pPr>
            <a:endParaRPr lang="en-US" sz="4336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72271" y="4558819"/>
            <a:ext cx="11668677" cy="2840402"/>
          </a:xfrm>
          <a:custGeom>
            <a:avLst/>
            <a:gdLst/>
            <a:ahLst/>
            <a:cxnLst/>
            <a:rect l="l" t="t" r="r" b="b"/>
            <a:pathLst>
              <a:path w="11668677" h="2840402">
                <a:moveTo>
                  <a:pt x="0" y="0"/>
                </a:moveTo>
                <a:lnTo>
                  <a:pt x="11668677" y="0"/>
                </a:lnTo>
                <a:lnTo>
                  <a:pt x="11668677" y="2840402"/>
                </a:lnTo>
                <a:lnTo>
                  <a:pt x="0" y="2840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268015" y="4241646"/>
            <a:ext cx="5323490" cy="3474747"/>
          </a:xfrm>
          <a:custGeom>
            <a:avLst/>
            <a:gdLst/>
            <a:ahLst/>
            <a:cxnLst/>
            <a:rect l="l" t="t" r="r" b="b"/>
            <a:pathLst>
              <a:path w="5323490" h="3474747">
                <a:moveTo>
                  <a:pt x="0" y="0"/>
                </a:moveTo>
                <a:lnTo>
                  <a:pt x="5323490" y="0"/>
                </a:lnTo>
                <a:lnTo>
                  <a:pt x="5323490" y="3474747"/>
                </a:lnTo>
                <a:lnTo>
                  <a:pt x="0" y="347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251365"/>
            <a:ext cx="18288000" cy="2455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11.For each restaurant, calculate its average Overall_Rating. Then, list the restaurant Name, City, and its calculated average Overall_Rating, but only for restaurants located in 'Cuernavaca' AND whose calculated average Overall_Rating is greater than 1.0.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4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7197" y="4858885"/>
            <a:ext cx="11889436" cy="1780676"/>
          </a:xfrm>
          <a:custGeom>
            <a:avLst/>
            <a:gdLst/>
            <a:ahLst/>
            <a:cxnLst/>
            <a:rect l="l" t="t" r="r" b="b"/>
            <a:pathLst>
              <a:path w="11889436" h="1780676">
                <a:moveTo>
                  <a:pt x="0" y="0"/>
                </a:moveTo>
                <a:lnTo>
                  <a:pt x="11889436" y="0"/>
                </a:lnTo>
                <a:lnTo>
                  <a:pt x="11889436" y="1780676"/>
                </a:lnTo>
                <a:lnTo>
                  <a:pt x="0" y="1780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567395" y="3724634"/>
            <a:ext cx="4691905" cy="4049178"/>
          </a:xfrm>
          <a:custGeom>
            <a:avLst/>
            <a:gdLst/>
            <a:ahLst/>
            <a:cxnLst/>
            <a:rect l="l" t="t" r="r" b="b"/>
            <a:pathLst>
              <a:path w="4691905" h="4049178">
                <a:moveTo>
                  <a:pt x="0" y="0"/>
                </a:moveTo>
                <a:lnTo>
                  <a:pt x="4691905" y="0"/>
                </a:lnTo>
                <a:lnTo>
                  <a:pt x="4691905" y="4049178"/>
                </a:lnTo>
                <a:lnTo>
                  <a:pt x="0" y="40491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94395" y="933450"/>
            <a:ext cx="17893605" cy="255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12.Show the Consumer_ID, Restaurant_ID, and Overall_Rating for all ratings where the Overall_Rating was 'Highly Satisfactory' (which corresponds to a value of 2, according to the data dictionary).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5671" y="2875915"/>
            <a:ext cx="12319872" cy="6686162"/>
          </a:xfrm>
          <a:custGeom>
            <a:avLst/>
            <a:gdLst/>
            <a:ahLst/>
            <a:cxnLst/>
            <a:rect l="l" t="t" r="r" b="b"/>
            <a:pathLst>
              <a:path w="12319872" h="6686162">
                <a:moveTo>
                  <a:pt x="0" y="0"/>
                </a:moveTo>
                <a:lnTo>
                  <a:pt x="12319872" y="0"/>
                </a:lnTo>
                <a:lnTo>
                  <a:pt x="12319872" y="6686162"/>
                </a:lnTo>
                <a:lnTo>
                  <a:pt x="0" y="6686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942975"/>
            <a:ext cx="18288000" cy="179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13.Using a CTE, find all consumers who live in 'San Luis Potosi'. Then, list their Consumer_ID, Age, and the Name of any Mexican restaurant they have rated with an Overall_Rating of 2.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AB3D65-E942-CAEF-18A9-BE322C9D7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5143500"/>
            <a:ext cx="7223125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970850" y="6938231"/>
            <a:ext cx="5903715" cy="2865038"/>
          </a:xfrm>
          <a:custGeom>
            <a:avLst/>
            <a:gdLst/>
            <a:ahLst/>
            <a:cxnLst/>
            <a:rect l="l" t="t" r="r" b="b"/>
            <a:pathLst>
              <a:path w="5903715" h="2865038">
                <a:moveTo>
                  <a:pt x="0" y="0"/>
                </a:moveTo>
                <a:lnTo>
                  <a:pt x="5903715" y="0"/>
                </a:lnTo>
                <a:lnTo>
                  <a:pt x="5903715" y="2865038"/>
                </a:lnTo>
                <a:lnTo>
                  <a:pt x="0" y="2865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5372" y="942975"/>
            <a:ext cx="17977256" cy="177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7"/>
              </a:lnSpc>
              <a:spcBef>
                <a:spcPct val="0"/>
              </a:spcBef>
            </a:pPr>
            <a:r>
              <a:rPr lang="en-US" sz="33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14.For each Occupation, find the average age of consumers. Only consider consumers who have made at least one rating. (Use a derived table to get consumers who have rated).</a:t>
            </a:r>
          </a:p>
          <a:p>
            <a:pPr algn="ctr">
              <a:lnSpc>
                <a:spcPts val="4687"/>
              </a:lnSpc>
              <a:spcBef>
                <a:spcPct val="0"/>
              </a:spcBef>
            </a:pPr>
            <a:endParaRPr lang="en-US" sz="33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8DE202-FB79-0CE4-E140-4CC526DAB1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31077"/>
            <a:ext cx="10764644" cy="57318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225161" y="3350041"/>
            <a:ext cx="7314412" cy="6724837"/>
          </a:xfrm>
          <a:custGeom>
            <a:avLst/>
            <a:gdLst/>
            <a:ahLst/>
            <a:cxnLst/>
            <a:rect l="l" t="t" r="r" b="b"/>
            <a:pathLst>
              <a:path w="7314412" h="6724837">
                <a:moveTo>
                  <a:pt x="0" y="0"/>
                </a:moveTo>
                <a:lnTo>
                  <a:pt x="7314412" y="0"/>
                </a:lnTo>
                <a:lnTo>
                  <a:pt x="7314412" y="6724837"/>
                </a:lnTo>
                <a:lnTo>
                  <a:pt x="0" y="6724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1241840"/>
            <a:ext cx="18288000" cy="210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15.Create a VIEW named HighlyRatedMexicanRestaurants that shows the Restaurant_ID, Name, and City of all Mexican restaurants that have an average Overall_Rating greater than 1.5.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9424" y="3045795"/>
            <a:ext cx="6805654" cy="7020852"/>
          </a:xfrm>
          <a:custGeom>
            <a:avLst/>
            <a:gdLst/>
            <a:ahLst/>
            <a:cxnLst/>
            <a:rect l="l" t="t" r="r" b="b"/>
            <a:pathLst>
              <a:path w="6805654" h="7020852">
                <a:moveTo>
                  <a:pt x="0" y="0"/>
                </a:moveTo>
                <a:lnTo>
                  <a:pt x="6805653" y="0"/>
                </a:lnTo>
                <a:lnTo>
                  <a:pt x="6805653" y="7020852"/>
                </a:lnTo>
                <a:lnTo>
                  <a:pt x="0" y="7020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00" r="-310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702294" y="4739443"/>
            <a:ext cx="10048249" cy="2479153"/>
          </a:xfrm>
          <a:custGeom>
            <a:avLst/>
            <a:gdLst/>
            <a:ahLst/>
            <a:cxnLst/>
            <a:rect l="l" t="t" r="r" b="b"/>
            <a:pathLst>
              <a:path w="10048249" h="2479153">
                <a:moveTo>
                  <a:pt x="0" y="0"/>
                </a:moveTo>
                <a:lnTo>
                  <a:pt x="10048249" y="0"/>
                </a:lnTo>
                <a:lnTo>
                  <a:pt x="10048249" y="2479153"/>
                </a:lnTo>
                <a:lnTo>
                  <a:pt x="0" y="24791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942975"/>
            <a:ext cx="18288000" cy="179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14.Create a stored procedure GetRestaurantRatingsAboveThreshold that accepts a Restaurant_ID and a minimum Overall_Rating as input. It should return the Consumer_ID, Overall_Rating, Food_Rating, and Service_Rating for that restaurant where the Overall_Rating meets or exceeds the threshold.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14222" y="3167365"/>
            <a:ext cx="11828363" cy="6772079"/>
          </a:xfrm>
          <a:custGeom>
            <a:avLst/>
            <a:gdLst/>
            <a:ahLst/>
            <a:cxnLst/>
            <a:rect l="l" t="t" r="r" b="b"/>
            <a:pathLst>
              <a:path w="11828363" h="6772079">
                <a:moveTo>
                  <a:pt x="0" y="0"/>
                </a:moveTo>
                <a:lnTo>
                  <a:pt x="11828363" y="0"/>
                </a:lnTo>
                <a:lnTo>
                  <a:pt x="11828363" y="6772080"/>
                </a:lnTo>
                <a:lnTo>
                  <a:pt x="0" y="6772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589809" y="3383686"/>
            <a:ext cx="9139465" cy="4771042"/>
          </a:xfrm>
          <a:custGeom>
            <a:avLst/>
            <a:gdLst/>
            <a:ahLst/>
            <a:cxnLst/>
            <a:rect l="l" t="t" r="r" b="b"/>
            <a:pathLst>
              <a:path w="9139465" h="4771042">
                <a:moveTo>
                  <a:pt x="0" y="0"/>
                </a:moveTo>
                <a:lnTo>
                  <a:pt x="9139465" y="0"/>
                </a:lnTo>
                <a:lnTo>
                  <a:pt x="9139465" y="4771042"/>
                </a:lnTo>
                <a:lnTo>
                  <a:pt x="0" y="47710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1307573"/>
            <a:ext cx="17729274" cy="2556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17.Using a CTE to get all ratings for restaurants in 'Cuernavaca', rank these ratings within each restaurant based on Overall_Rating (highest first). Display Restaurant_ID, Consumer_ID, Overall_Rating, and the RatingRank.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35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0650" y="2784617"/>
            <a:ext cx="17446700" cy="1962754"/>
          </a:xfrm>
          <a:custGeom>
            <a:avLst/>
            <a:gdLst/>
            <a:ahLst/>
            <a:cxnLst/>
            <a:rect l="l" t="t" r="r" b="b"/>
            <a:pathLst>
              <a:path w="17446700" h="1962754">
                <a:moveTo>
                  <a:pt x="0" y="0"/>
                </a:moveTo>
                <a:lnTo>
                  <a:pt x="17446700" y="0"/>
                </a:lnTo>
                <a:lnTo>
                  <a:pt x="17446700" y="1962754"/>
                </a:lnTo>
                <a:lnTo>
                  <a:pt x="0" y="1962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61966" y="4980511"/>
            <a:ext cx="3501583" cy="4673919"/>
          </a:xfrm>
          <a:custGeom>
            <a:avLst/>
            <a:gdLst/>
            <a:ahLst/>
            <a:cxnLst/>
            <a:rect l="l" t="t" r="r" b="b"/>
            <a:pathLst>
              <a:path w="3501583" h="4673919">
                <a:moveTo>
                  <a:pt x="0" y="0"/>
                </a:moveTo>
                <a:lnTo>
                  <a:pt x="3501583" y="0"/>
                </a:lnTo>
                <a:lnTo>
                  <a:pt x="3501583" y="4673918"/>
                </a:lnTo>
                <a:lnTo>
                  <a:pt x="0" y="46739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933450"/>
            <a:ext cx="18288000" cy="1315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18.Find the Consumer_ID and Occupation of consumers whose preferred cuisine is 'Mexican' and who have given an Overall_Rating of 0 to at least one restaurant (any restaurant).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2862"/>
            <a:ext cx="5225161" cy="937001"/>
          </a:xfrm>
          <a:custGeom>
            <a:avLst/>
            <a:gdLst/>
            <a:ahLst/>
            <a:cxnLst/>
            <a:rect l="l" t="t" r="r" b="b"/>
            <a:pathLst>
              <a:path w="5225161" h="937001">
                <a:moveTo>
                  <a:pt x="0" y="0"/>
                </a:moveTo>
                <a:lnTo>
                  <a:pt x="5225161" y="0"/>
                </a:lnTo>
                <a:lnTo>
                  <a:pt x="5225161" y="937001"/>
                </a:lnTo>
                <a:lnTo>
                  <a:pt x="0" y="9370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7227470">
            <a:off x="-6810816" y="7058768"/>
            <a:ext cx="6638483" cy="7225560"/>
          </a:xfrm>
          <a:custGeom>
            <a:avLst/>
            <a:gdLst/>
            <a:ahLst/>
            <a:cxnLst/>
            <a:rect l="l" t="t" r="r" b="b"/>
            <a:pathLst>
              <a:path w="6638483" h="7225560">
                <a:moveTo>
                  <a:pt x="0" y="0"/>
                </a:moveTo>
                <a:lnTo>
                  <a:pt x="6638484" y="0"/>
                </a:lnTo>
                <a:lnTo>
                  <a:pt x="6638484" y="7225560"/>
                </a:lnTo>
                <a:lnTo>
                  <a:pt x="0" y="72255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178895" y="2264352"/>
            <a:ext cx="9141421" cy="2879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56"/>
              </a:lnSpc>
              <a:spcBef>
                <a:spcPct val="0"/>
              </a:spcBef>
            </a:pPr>
            <a:r>
              <a:rPr lang="en-US" sz="163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68836" y="7205687"/>
            <a:ext cx="6549190" cy="323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members: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.Nuthana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K.Anusha</a:t>
            </a:r>
          </a:p>
          <a:p>
            <a:pPr algn="ctr">
              <a:lnSpc>
                <a:spcPts val="5096"/>
              </a:lnSpc>
            </a:pPr>
            <a:r>
              <a:rPr lang="en-US" sz="36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 . Dhanlakshmi</a:t>
            </a:r>
          </a:p>
          <a:p>
            <a:pPr algn="ctr">
              <a:lnSpc>
                <a:spcPts val="5096"/>
              </a:lnSpc>
              <a:spcBef>
                <a:spcPct val="0"/>
              </a:spcBef>
            </a:pPr>
            <a:endParaRPr lang="en-US" sz="36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885</Words>
  <Application>Microsoft Office PowerPoint</Application>
  <PresentationFormat>Custom</PresentationFormat>
  <Paragraphs>49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Times New Roman Bold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AND CONSUMER ANALYTICS</dc:title>
  <cp:lastModifiedBy>Anushareddy kadipikonda</cp:lastModifiedBy>
  <cp:revision>3</cp:revision>
  <dcterms:created xsi:type="dcterms:W3CDTF">2006-08-16T00:00:00Z</dcterms:created>
  <dcterms:modified xsi:type="dcterms:W3CDTF">2025-10-11T11:08:58Z</dcterms:modified>
  <dc:identifier>DAG1RuoS9K8</dc:identifier>
</cp:coreProperties>
</file>